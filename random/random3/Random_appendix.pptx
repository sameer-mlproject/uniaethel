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S</c:v>
                </c:pt>
              </c:strCache>
            </c:strRef>
          </c:tx>
          <c:spPr>
            <a:ln w="25400">
              <a:solidFill>
                <a:srgbClr val="16324B"/>
              </a:solidFill>
            </a:ln>
          </c:spPr>
          <c:marker>
            <c:symbol val="none"/>
          </c:marker>
          <c:xVal>
            <c:numRef>
              <c:f>Sheet1!$A$2:$A$301</c:f>
              <c:numCache>
                <c:formatCode>General</c:formatCode>
                <c:ptCount val="3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</c:numCache>
            </c:numRef>
          </c:xVal>
          <c:yVal>
            <c:numRef>
              <c:f>Sheet1!$B$2:$B$301</c:f>
              <c:numCache>
                <c:formatCode>General</c:formatCode>
                <c:ptCount val="300"/>
                <c:pt idx="0">
                  <c:v>0.1678</c:v>
                </c:pt>
                <c:pt idx="1">
                  <c:v>0.2094</c:v>
                </c:pt>
                <c:pt idx="2">
                  <c:v>0.20979999999999999</c:v>
                </c:pt>
                <c:pt idx="3">
                  <c:v>0.20499999999999999</c:v>
                </c:pt>
                <c:pt idx="4">
                  <c:v>0.20039999999999999</c:v>
                </c:pt>
                <c:pt idx="5">
                  <c:v>0.21210000000000001</c:v>
                </c:pt>
                <c:pt idx="6">
                  <c:v>0.19969999999999999</c:v>
                </c:pt>
                <c:pt idx="7">
                  <c:v>0.19589999999999999</c:v>
                </c:pt>
                <c:pt idx="8">
                  <c:v>0.1963</c:v>
                </c:pt>
                <c:pt idx="9">
                  <c:v>0.20419999999999999</c:v>
                </c:pt>
                <c:pt idx="10">
                  <c:v>0.20899999999999999</c:v>
                </c:pt>
                <c:pt idx="11">
                  <c:v>0.20810000000000001</c:v>
                </c:pt>
                <c:pt idx="12">
                  <c:v>0.21149999999999999</c:v>
                </c:pt>
                <c:pt idx="13">
                  <c:v>0.21479999999999999</c:v>
                </c:pt>
                <c:pt idx="14">
                  <c:v>0.21360000000000001</c:v>
                </c:pt>
                <c:pt idx="15">
                  <c:v>0.20979999999999999</c:v>
                </c:pt>
                <c:pt idx="16">
                  <c:v>0.21129999999999999</c:v>
                </c:pt>
                <c:pt idx="17">
                  <c:v>0.2114</c:v>
                </c:pt>
                <c:pt idx="18">
                  <c:v>0.21210000000000001</c:v>
                </c:pt>
                <c:pt idx="19">
                  <c:v>0.21240000000000001</c:v>
                </c:pt>
                <c:pt idx="20">
                  <c:v>0.21240000000000001</c:v>
                </c:pt>
                <c:pt idx="21">
                  <c:v>0.21240000000000001</c:v>
                </c:pt>
                <c:pt idx="22">
                  <c:v>0.21240000000000001</c:v>
                </c:pt>
                <c:pt idx="23">
                  <c:v>0.21240000000000001</c:v>
                </c:pt>
                <c:pt idx="24">
                  <c:v>0.21240000000000001</c:v>
                </c:pt>
                <c:pt idx="25">
                  <c:v>0.21240000000000001</c:v>
                </c:pt>
                <c:pt idx="26">
                  <c:v>0.21240000000000001</c:v>
                </c:pt>
                <c:pt idx="27">
                  <c:v>0.21240000000000001</c:v>
                </c:pt>
                <c:pt idx="28">
                  <c:v>0.21240000000000001</c:v>
                </c:pt>
                <c:pt idx="29">
                  <c:v>0.21240000000000001</c:v>
                </c:pt>
                <c:pt idx="30">
                  <c:v>0.21240000000000001</c:v>
                </c:pt>
                <c:pt idx="31">
                  <c:v>0.21240000000000001</c:v>
                </c:pt>
                <c:pt idx="32">
                  <c:v>0.21240000000000001</c:v>
                </c:pt>
                <c:pt idx="33">
                  <c:v>0.21240000000000001</c:v>
                </c:pt>
                <c:pt idx="34">
                  <c:v>0.21240000000000001</c:v>
                </c:pt>
                <c:pt idx="35">
                  <c:v>0.21240000000000001</c:v>
                </c:pt>
                <c:pt idx="36">
                  <c:v>0.21240000000000001</c:v>
                </c:pt>
                <c:pt idx="37">
                  <c:v>0.21240000000000001</c:v>
                </c:pt>
                <c:pt idx="38">
                  <c:v>0.21240000000000001</c:v>
                </c:pt>
                <c:pt idx="39">
                  <c:v>0.21240000000000001</c:v>
                </c:pt>
                <c:pt idx="40">
                  <c:v>0.21240000000000001</c:v>
                </c:pt>
                <c:pt idx="41">
                  <c:v>0.21240000000000001</c:v>
                </c:pt>
                <c:pt idx="42">
                  <c:v>0.21240000000000001</c:v>
                </c:pt>
                <c:pt idx="43">
                  <c:v>0.21240000000000001</c:v>
                </c:pt>
                <c:pt idx="44">
                  <c:v>0.21240000000000001</c:v>
                </c:pt>
                <c:pt idx="45">
                  <c:v>0.21240000000000001</c:v>
                </c:pt>
                <c:pt idx="46">
                  <c:v>0.21240000000000001</c:v>
                </c:pt>
                <c:pt idx="47">
                  <c:v>0.21240000000000001</c:v>
                </c:pt>
                <c:pt idx="48">
                  <c:v>0.21240000000000001</c:v>
                </c:pt>
                <c:pt idx="49">
                  <c:v>0.21240000000000001</c:v>
                </c:pt>
                <c:pt idx="50">
                  <c:v>0.21240000000000001</c:v>
                </c:pt>
                <c:pt idx="51">
                  <c:v>0.21240000000000001</c:v>
                </c:pt>
                <c:pt idx="52">
                  <c:v>0.21240000000000001</c:v>
                </c:pt>
                <c:pt idx="53">
                  <c:v>0.21240000000000001</c:v>
                </c:pt>
                <c:pt idx="54">
                  <c:v>0.21240000000000001</c:v>
                </c:pt>
                <c:pt idx="55">
                  <c:v>0.21240000000000001</c:v>
                </c:pt>
                <c:pt idx="56">
                  <c:v>0.21240000000000001</c:v>
                </c:pt>
                <c:pt idx="57">
                  <c:v>0.21240000000000001</c:v>
                </c:pt>
                <c:pt idx="58">
                  <c:v>0.21240000000000001</c:v>
                </c:pt>
                <c:pt idx="59">
                  <c:v>0.21240000000000001</c:v>
                </c:pt>
                <c:pt idx="60">
                  <c:v>0.21240000000000001</c:v>
                </c:pt>
                <c:pt idx="61">
                  <c:v>0.21240000000000001</c:v>
                </c:pt>
                <c:pt idx="62">
                  <c:v>0.21240000000000001</c:v>
                </c:pt>
                <c:pt idx="63">
                  <c:v>0.21240000000000001</c:v>
                </c:pt>
                <c:pt idx="64">
                  <c:v>0.21240000000000001</c:v>
                </c:pt>
                <c:pt idx="65">
                  <c:v>0.21240000000000001</c:v>
                </c:pt>
                <c:pt idx="66">
                  <c:v>0.21240000000000001</c:v>
                </c:pt>
                <c:pt idx="67">
                  <c:v>0.21240000000000001</c:v>
                </c:pt>
                <c:pt idx="68">
                  <c:v>0.21240000000000001</c:v>
                </c:pt>
                <c:pt idx="69">
                  <c:v>0.21240000000000001</c:v>
                </c:pt>
                <c:pt idx="70">
                  <c:v>0.21240000000000001</c:v>
                </c:pt>
                <c:pt idx="71">
                  <c:v>0.21240000000000001</c:v>
                </c:pt>
                <c:pt idx="72">
                  <c:v>0.21240000000000001</c:v>
                </c:pt>
                <c:pt idx="73">
                  <c:v>0.21240000000000001</c:v>
                </c:pt>
                <c:pt idx="74">
                  <c:v>0.21240000000000001</c:v>
                </c:pt>
                <c:pt idx="75">
                  <c:v>0.21240000000000001</c:v>
                </c:pt>
                <c:pt idx="76">
                  <c:v>0.21240000000000001</c:v>
                </c:pt>
                <c:pt idx="77">
                  <c:v>0.21240000000000001</c:v>
                </c:pt>
                <c:pt idx="78">
                  <c:v>0.21240000000000001</c:v>
                </c:pt>
                <c:pt idx="79">
                  <c:v>0.21240000000000001</c:v>
                </c:pt>
                <c:pt idx="80">
                  <c:v>0.21240000000000001</c:v>
                </c:pt>
                <c:pt idx="81">
                  <c:v>0.21240000000000001</c:v>
                </c:pt>
                <c:pt idx="82">
                  <c:v>0.21240000000000001</c:v>
                </c:pt>
                <c:pt idx="83">
                  <c:v>0.21240000000000001</c:v>
                </c:pt>
                <c:pt idx="84">
                  <c:v>0.21240000000000001</c:v>
                </c:pt>
                <c:pt idx="85">
                  <c:v>0.21240000000000001</c:v>
                </c:pt>
                <c:pt idx="86">
                  <c:v>0.21240000000000001</c:v>
                </c:pt>
                <c:pt idx="87">
                  <c:v>0.21240000000000001</c:v>
                </c:pt>
                <c:pt idx="88">
                  <c:v>0.21240000000000001</c:v>
                </c:pt>
                <c:pt idx="89">
                  <c:v>0.21240000000000001</c:v>
                </c:pt>
                <c:pt idx="90">
                  <c:v>0.21240000000000001</c:v>
                </c:pt>
                <c:pt idx="91">
                  <c:v>0.21240000000000001</c:v>
                </c:pt>
                <c:pt idx="92">
                  <c:v>0.21240000000000001</c:v>
                </c:pt>
                <c:pt idx="93">
                  <c:v>0.21240000000000001</c:v>
                </c:pt>
                <c:pt idx="94">
                  <c:v>0.21240000000000001</c:v>
                </c:pt>
                <c:pt idx="95">
                  <c:v>0.21240000000000001</c:v>
                </c:pt>
                <c:pt idx="96">
                  <c:v>0.21240000000000001</c:v>
                </c:pt>
                <c:pt idx="97">
                  <c:v>0.21240000000000001</c:v>
                </c:pt>
                <c:pt idx="98">
                  <c:v>0.21240000000000001</c:v>
                </c:pt>
                <c:pt idx="99">
                  <c:v>0.21240000000000001</c:v>
                </c:pt>
                <c:pt idx="100">
                  <c:v>0.21240000000000001</c:v>
                </c:pt>
                <c:pt idx="101">
                  <c:v>0.21240000000000001</c:v>
                </c:pt>
                <c:pt idx="102">
                  <c:v>0.21240000000000001</c:v>
                </c:pt>
                <c:pt idx="103">
                  <c:v>0.21240000000000001</c:v>
                </c:pt>
                <c:pt idx="104">
                  <c:v>0.21240000000000001</c:v>
                </c:pt>
                <c:pt idx="105">
                  <c:v>0.21240000000000001</c:v>
                </c:pt>
                <c:pt idx="106">
                  <c:v>0.21240000000000001</c:v>
                </c:pt>
                <c:pt idx="107">
                  <c:v>0.21240000000000001</c:v>
                </c:pt>
                <c:pt idx="108">
                  <c:v>0.21240000000000001</c:v>
                </c:pt>
                <c:pt idx="109">
                  <c:v>0.21240000000000001</c:v>
                </c:pt>
                <c:pt idx="110">
                  <c:v>0.20979999999999999</c:v>
                </c:pt>
                <c:pt idx="111">
                  <c:v>0.20899999999999999</c:v>
                </c:pt>
                <c:pt idx="112">
                  <c:v>0.20680000000000001</c:v>
                </c:pt>
                <c:pt idx="113">
                  <c:v>0.20649999999999999</c:v>
                </c:pt>
                <c:pt idx="114">
                  <c:v>0.20569999999999999</c:v>
                </c:pt>
                <c:pt idx="115">
                  <c:v>0.64390000000000003</c:v>
                </c:pt>
                <c:pt idx="116">
                  <c:v>0.37809999999999999</c:v>
                </c:pt>
                <c:pt idx="117">
                  <c:v>0.37309999999999999</c:v>
                </c:pt>
                <c:pt idx="118">
                  <c:v>0.36420000000000002</c:v>
                </c:pt>
                <c:pt idx="119">
                  <c:v>0.35809999999999997</c:v>
                </c:pt>
                <c:pt idx="120">
                  <c:v>0.20430000000000001</c:v>
                </c:pt>
                <c:pt idx="121">
                  <c:v>0.2029</c:v>
                </c:pt>
                <c:pt idx="122">
                  <c:v>0.1986</c:v>
                </c:pt>
                <c:pt idx="123">
                  <c:v>0.1993</c:v>
                </c:pt>
                <c:pt idx="124">
                  <c:v>0.19839999999999999</c:v>
                </c:pt>
                <c:pt idx="125">
                  <c:v>0.60470000000000002</c:v>
                </c:pt>
                <c:pt idx="126">
                  <c:v>0.32829999999999998</c:v>
                </c:pt>
                <c:pt idx="127">
                  <c:v>0.33710000000000001</c:v>
                </c:pt>
                <c:pt idx="128">
                  <c:v>0.33589999999999998</c:v>
                </c:pt>
                <c:pt idx="129">
                  <c:v>0.33910000000000001</c:v>
                </c:pt>
                <c:pt idx="130">
                  <c:v>0.21210000000000001</c:v>
                </c:pt>
                <c:pt idx="131">
                  <c:v>0.20369999999999999</c:v>
                </c:pt>
                <c:pt idx="132">
                  <c:v>0.1988</c:v>
                </c:pt>
                <c:pt idx="133">
                  <c:v>0.19919999999999999</c:v>
                </c:pt>
                <c:pt idx="134">
                  <c:v>0.19739999999999999</c:v>
                </c:pt>
                <c:pt idx="135">
                  <c:v>0.76429999999999998</c:v>
                </c:pt>
                <c:pt idx="136">
                  <c:v>0.76549999999999996</c:v>
                </c:pt>
                <c:pt idx="137">
                  <c:v>0.76659999999999995</c:v>
                </c:pt>
                <c:pt idx="138">
                  <c:v>0.76559999999999995</c:v>
                </c:pt>
                <c:pt idx="139">
                  <c:v>0.76559999999999995</c:v>
                </c:pt>
                <c:pt idx="140">
                  <c:v>0.75239999999999996</c:v>
                </c:pt>
                <c:pt idx="141">
                  <c:v>0.75119999999999998</c:v>
                </c:pt>
                <c:pt idx="142">
                  <c:v>0.75090000000000001</c:v>
                </c:pt>
                <c:pt idx="143">
                  <c:v>0.752</c:v>
                </c:pt>
                <c:pt idx="144">
                  <c:v>0.99980000000000002</c:v>
                </c:pt>
                <c:pt idx="145">
                  <c:v>0.99980000000000002</c:v>
                </c:pt>
                <c:pt idx="146">
                  <c:v>0.99980000000000002</c:v>
                </c:pt>
                <c:pt idx="147">
                  <c:v>0.99980000000000002</c:v>
                </c:pt>
                <c:pt idx="148">
                  <c:v>0.99980000000000002</c:v>
                </c:pt>
                <c:pt idx="149">
                  <c:v>0.99970000000000003</c:v>
                </c:pt>
                <c:pt idx="150">
                  <c:v>0.99970000000000003</c:v>
                </c:pt>
                <c:pt idx="151">
                  <c:v>0.99970000000000003</c:v>
                </c:pt>
                <c:pt idx="152">
                  <c:v>0.99970000000000003</c:v>
                </c:pt>
                <c:pt idx="153">
                  <c:v>0.99970000000000003</c:v>
                </c:pt>
                <c:pt idx="154">
                  <c:v>0.99970000000000003</c:v>
                </c:pt>
                <c:pt idx="155">
                  <c:v>0.99980000000000002</c:v>
                </c:pt>
                <c:pt idx="156">
                  <c:v>0.99980000000000002</c:v>
                </c:pt>
                <c:pt idx="157">
                  <c:v>0.99980000000000002</c:v>
                </c:pt>
                <c:pt idx="158">
                  <c:v>0.99980000000000002</c:v>
                </c:pt>
                <c:pt idx="159">
                  <c:v>0.99980000000000002</c:v>
                </c:pt>
                <c:pt idx="160">
                  <c:v>0.99970000000000003</c:v>
                </c:pt>
                <c:pt idx="161">
                  <c:v>0.99970000000000003</c:v>
                </c:pt>
                <c:pt idx="162">
                  <c:v>0.99970000000000003</c:v>
                </c:pt>
                <c:pt idx="163">
                  <c:v>0.99970000000000003</c:v>
                </c:pt>
                <c:pt idx="164">
                  <c:v>0.99970000000000003</c:v>
                </c:pt>
                <c:pt idx="165">
                  <c:v>0.99970000000000003</c:v>
                </c:pt>
                <c:pt idx="166">
                  <c:v>0.99970000000000003</c:v>
                </c:pt>
                <c:pt idx="167">
                  <c:v>0.99970000000000003</c:v>
                </c:pt>
                <c:pt idx="168">
                  <c:v>0.99970000000000003</c:v>
                </c:pt>
                <c:pt idx="169">
                  <c:v>0.99970000000000003</c:v>
                </c:pt>
                <c:pt idx="170">
                  <c:v>0.99970000000000003</c:v>
                </c:pt>
                <c:pt idx="171">
                  <c:v>0.99970000000000003</c:v>
                </c:pt>
                <c:pt idx="172">
                  <c:v>0.99970000000000003</c:v>
                </c:pt>
                <c:pt idx="173">
                  <c:v>0.99970000000000003</c:v>
                </c:pt>
                <c:pt idx="174">
                  <c:v>0.99970000000000003</c:v>
                </c:pt>
                <c:pt idx="175">
                  <c:v>0.99970000000000003</c:v>
                </c:pt>
                <c:pt idx="176">
                  <c:v>0.99970000000000003</c:v>
                </c:pt>
                <c:pt idx="177">
                  <c:v>0.99970000000000003</c:v>
                </c:pt>
                <c:pt idx="178">
                  <c:v>0.99970000000000003</c:v>
                </c:pt>
                <c:pt idx="179">
                  <c:v>0.99970000000000003</c:v>
                </c:pt>
                <c:pt idx="180">
                  <c:v>0.99970000000000003</c:v>
                </c:pt>
                <c:pt idx="181">
                  <c:v>0.99970000000000003</c:v>
                </c:pt>
                <c:pt idx="182">
                  <c:v>0.99970000000000003</c:v>
                </c:pt>
                <c:pt idx="183">
                  <c:v>0.99970000000000003</c:v>
                </c:pt>
                <c:pt idx="184">
                  <c:v>0.99970000000000003</c:v>
                </c:pt>
                <c:pt idx="185">
                  <c:v>0.99980000000000002</c:v>
                </c:pt>
                <c:pt idx="186">
                  <c:v>0.99980000000000002</c:v>
                </c:pt>
                <c:pt idx="187">
                  <c:v>0.99980000000000002</c:v>
                </c:pt>
                <c:pt idx="188">
                  <c:v>0.99980000000000002</c:v>
                </c:pt>
                <c:pt idx="189">
                  <c:v>0.99980000000000002</c:v>
                </c:pt>
                <c:pt idx="190">
                  <c:v>0.99970000000000003</c:v>
                </c:pt>
                <c:pt idx="191">
                  <c:v>0.99970000000000003</c:v>
                </c:pt>
                <c:pt idx="192">
                  <c:v>0.99970000000000003</c:v>
                </c:pt>
                <c:pt idx="193">
                  <c:v>0.99970000000000003</c:v>
                </c:pt>
                <c:pt idx="194">
                  <c:v>0.99970000000000003</c:v>
                </c:pt>
                <c:pt idx="195">
                  <c:v>0.99980000000000002</c:v>
                </c:pt>
                <c:pt idx="196">
                  <c:v>0.99980000000000002</c:v>
                </c:pt>
                <c:pt idx="197">
                  <c:v>0.99980000000000002</c:v>
                </c:pt>
                <c:pt idx="198">
                  <c:v>0.99980000000000002</c:v>
                </c:pt>
                <c:pt idx="199">
                  <c:v>0.99980000000000002</c:v>
                </c:pt>
                <c:pt idx="200">
                  <c:v>0.99970000000000003</c:v>
                </c:pt>
                <c:pt idx="201">
                  <c:v>0.99970000000000003</c:v>
                </c:pt>
                <c:pt idx="202">
                  <c:v>0.99970000000000003</c:v>
                </c:pt>
                <c:pt idx="203">
                  <c:v>0.99970000000000003</c:v>
                </c:pt>
                <c:pt idx="204">
                  <c:v>0.99970000000000003</c:v>
                </c:pt>
                <c:pt idx="205">
                  <c:v>0.99970000000000003</c:v>
                </c:pt>
                <c:pt idx="206">
                  <c:v>0.99970000000000003</c:v>
                </c:pt>
                <c:pt idx="207">
                  <c:v>0.99970000000000003</c:v>
                </c:pt>
                <c:pt idx="208">
                  <c:v>0.99970000000000003</c:v>
                </c:pt>
                <c:pt idx="209">
                  <c:v>0.99970000000000003</c:v>
                </c:pt>
                <c:pt idx="210">
                  <c:v>0.99970000000000003</c:v>
                </c:pt>
                <c:pt idx="211">
                  <c:v>0.99970000000000003</c:v>
                </c:pt>
                <c:pt idx="212">
                  <c:v>0.99970000000000003</c:v>
                </c:pt>
                <c:pt idx="213">
                  <c:v>0.99970000000000003</c:v>
                </c:pt>
                <c:pt idx="214">
                  <c:v>0.99970000000000003</c:v>
                </c:pt>
                <c:pt idx="215">
                  <c:v>0.99970000000000003</c:v>
                </c:pt>
                <c:pt idx="216">
                  <c:v>0.99970000000000003</c:v>
                </c:pt>
                <c:pt idx="217">
                  <c:v>0.99970000000000003</c:v>
                </c:pt>
                <c:pt idx="218">
                  <c:v>0.99970000000000003</c:v>
                </c:pt>
                <c:pt idx="219">
                  <c:v>0.99970000000000003</c:v>
                </c:pt>
                <c:pt idx="220">
                  <c:v>0.99970000000000003</c:v>
                </c:pt>
                <c:pt idx="221">
                  <c:v>0.99970000000000003</c:v>
                </c:pt>
                <c:pt idx="222">
                  <c:v>0.99970000000000003</c:v>
                </c:pt>
                <c:pt idx="223">
                  <c:v>0.99970000000000003</c:v>
                </c:pt>
                <c:pt idx="224">
                  <c:v>0.99970000000000003</c:v>
                </c:pt>
                <c:pt idx="225">
                  <c:v>0.99970000000000003</c:v>
                </c:pt>
                <c:pt idx="226">
                  <c:v>0.99980000000000002</c:v>
                </c:pt>
                <c:pt idx="227">
                  <c:v>0.99980000000000002</c:v>
                </c:pt>
                <c:pt idx="228">
                  <c:v>0.99980000000000002</c:v>
                </c:pt>
                <c:pt idx="229">
                  <c:v>0.99980000000000002</c:v>
                </c:pt>
                <c:pt idx="230">
                  <c:v>0.99980000000000002</c:v>
                </c:pt>
                <c:pt idx="231">
                  <c:v>0.99970000000000003</c:v>
                </c:pt>
                <c:pt idx="232">
                  <c:v>0.99970000000000003</c:v>
                </c:pt>
                <c:pt idx="233">
                  <c:v>0.99970000000000003</c:v>
                </c:pt>
                <c:pt idx="234">
                  <c:v>0.99970000000000003</c:v>
                </c:pt>
                <c:pt idx="235">
                  <c:v>0.99970000000000003</c:v>
                </c:pt>
                <c:pt idx="236">
                  <c:v>0.99980000000000002</c:v>
                </c:pt>
                <c:pt idx="237">
                  <c:v>0.99980000000000002</c:v>
                </c:pt>
                <c:pt idx="238">
                  <c:v>0.99980000000000002</c:v>
                </c:pt>
                <c:pt idx="239">
                  <c:v>0.99980000000000002</c:v>
                </c:pt>
                <c:pt idx="240">
                  <c:v>0.99980000000000002</c:v>
                </c:pt>
                <c:pt idx="241">
                  <c:v>0.99970000000000003</c:v>
                </c:pt>
                <c:pt idx="242">
                  <c:v>0.99970000000000003</c:v>
                </c:pt>
                <c:pt idx="243">
                  <c:v>0.99970000000000003</c:v>
                </c:pt>
                <c:pt idx="244">
                  <c:v>0.99970000000000003</c:v>
                </c:pt>
                <c:pt idx="245">
                  <c:v>0.99970000000000003</c:v>
                </c:pt>
                <c:pt idx="246">
                  <c:v>0.99970000000000003</c:v>
                </c:pt>
                <c:pt idx="247">
                  <c:v>0.99970000000000003</c:v>
                </c:pt>
                <c:pt idx="248">
                  <c:v>0.99970000000000003</c:v>
                </c:pt>
                <c:pt idx="249">
                  <c:v>0.99970000000000003</c:v>
                </c:pt>
                <c:pt idx="250">
                  <c:v>0.99970000000000003</c:v>
                </c:pt>
                <c:pt idx="251">
                  <c:v>0.99970000000000003</c:v>
                </c:pt>
                <c:pt idx="252">
                  <c:v>0.99970000000000003</c:v>
                </c:pt>
                <c:pt idx="253">
                  <c:v>0.99970000000000003</c:v>
                </c:pt>
                <c:pt idx="254">
                  <c:v>0.99970000000000003</c:v>
                </c:pt>
                <c:pt idx="255">
                  <c:v>0.99970000000000003</c:v>
                </c:pt>
                <c:pt idx="256">
                  <c:v>0.99970000000000003</c:v>
                </c:pt>
                <c:pt idx="257">
                  <c:v>0.99970000000000003</c:v>
                </c:pt>
                <c:pt idx="258">
                  <c:v>0.99970000000000003</c:v>
                </c:pt>
                <c:pt idx="259">
                  <c:v>0.99970000000000003</c:v>
                </c:pt>
                <c:pt idx="260">
                  <c:v>0.99970000000000003</c:v>
                </c:pt>
                <c:pt idx="261">
                  <c:v>0.99970000000000003</c:v>
                </c:pt>
                <c:pt idx="262">
                  <c:v>0.99970000000000003</c:v>
                </c:pt>
                <c:pt idx="263">
                  <c:v>0.99970000000000003</c:v>
                </c:pt>
                <c:pt idx="264">
                  <c:v>0.99970000000000003</c:v>
                </c:pt>
                <c:pt idx="265">
                  <c:v>0.99970000000000003</c:v>
                </c:pt>
                <c:pt idx="266">
                  <c:v>0.99970000000000003</c:v>
                </c:pt>
                <c:pt idx="267">
                  <c:v>0.99970000000000003</c:v>
                </c:pt>
                <c:pt idx="268">
                  <c:v>0.99970000000000003</c:v>
                </c:pt>
                <c:pt idx="269">
                  <c:v>0.99970000000000003</c:v>
                </c:pt>
                <c:pt idx="270">
                  <c:v>0.99970000000000003</c:v>
                </c:pt>
                <c:pt idx="271">
                  <c:v>0.99970000000000003</c:v>
                </c:pt>
                <c:pt idx="272">
                  <c:v>0.99970000000000003</c:v>
                </c:pt>
                <c:pt idx="273">
                  <c:v>0.99970000000000003</c:v>
                </c:pt>
                <c:pt idx="274">
                  <c:v>0.99970000000000003</c:v>
                </c:pt>
                <c:pt idx="275">
                  <c:v>0.99970000000000003</c:v>
                </c:pt>
                <c:pt idx="276">
                  <c:v>0.99970000000000003</c:v>
                </c:pt>
                <c:pt idx="277">
                  <c:v>0.99970000000000003</c:v>
                </c:pt>
                <c:pt idx="278">
                  <c:v>0.99970000000000003</c:v>
                </c:pt>
                <c:pt idx="279">
                  <c:v>0.99970000000000003</c:v>
                </c:pt>
                <c:pt idx="280">
                  <c:v>0.99970000000000003</c:v>
                </c:pt>
                <c:pt idx="281">
                  <c:v>0.99970000000000003</c:v>
                </c:pt>
                <c:pt idx="282">
                  <c:v>0.99970000000000003</c:v>
                </c:pt>
                <c:pt idx="283">
                  <c:v>0.99970000000000003</c:v>
                </c:pt>
                <c:pt idx="284">
                  <c:v>0.99970000000000003</c:v>
                </c:pt>
                <c:pt idx="285">
                  <c:v>0.99970000000000003</c:v>
                </c:pt>
                <c:pt idx="286">
                  <c:v>0.99970000000000003</c:v>
                </c:pt>
                <c:pt idx="287">
                  <c:v>0.99970000000000003</c:v>
                </c:pt>
                <c:pt idx="288">
                  <c:v>0.99970000000000003</c:v>
                </c:pt>
                <c:pt idx="289">
                  <c:v>0.99970000000000003</c:v>
                </c:pt>
                <c:pt idx="290">
                  <c:v>0.99970000000000003</c:v>
                </c:pt>
                <c:pt idx="291">
                  <c:v>0.99970000000000003</c:v>
                </c:pt>
                <c:pt idx="292">
                  <c:v>0.99970000000000003</c:v>
                </c:pt>
                <c:pt idx="293">
                  <c:v>0.99970000000000003</c:v>
                </c:pt>
                <c:pt idx="294">
                  <c:v>0.99970000000000003</c:v>
                </c:pt>
                <c:pt idx="295">
                  <c:v>0.99970000000000003</c:v>
                </c:pt>
                <c:pt idx="296">
                  <c:v>0.99919999999999998</c:v>
                </c:pt>
                <c:pt idx="297">
                  <c:v>0.99909999999999999</c:v>
                </c:pt>
                <c:pt idx="298">
                  <c:v>0.999</c:v>
                </c:pt>
                <c:pt idx="299">
                  <c:v>0.99880000000000002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123-4647-ABC1-9ED8BA3228B5}"/>
            </c:ext>
          </c:extLst>
        </c:ser>
        <c:ser>
          <c:idx val="1"/>
          <c:order val="1"/>
          <c:tx>
            <c:strRef>
              <c:f>Sheet1!$B$303</c:f>
              <c:strCache>
                <c:ptCount val="1"/>
                <c:pt idx="0">
                  <c:v>Engines agreeing ÷ 4</c:v>
                </c:pt>
              </c:strCache>
            </c:strRef>
          </c:tx>
          <c:spPr>
            <a:ln w="19050">
              <a:solidFill>
                <a:srgbClr val="1E6F9F"/>
              </a:solidFill>
            </a:ln>
          </c:spPr>
          <c:marker>
            <c:symbol val="none"/>
          </c:marker>
          <c:xVal>
            <c:numRef>
              <c:f>Sheet1!$A$304:$A$603</c:f>
              <c:numCache>
                <c:formatCode>General</c:formatCode>
                <c:ptCount val="3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</c:numCache>
            </c:numRef>
          </c:xVal>
          <c:yVal>
            <c:numRef>
              <c:f>Sheet1!$B$304:$B$603</c:f>
              <c:numCache>
                <c:formatCode>General</c:formatCode>
                <c:ptCount val="3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0.25</c:v>
                </c:pt>
                <c:pt idx="136">
                  <c:v>0.25</c:v>
                </c:pt>
                <c:pt idx="137">
                  <c:v>0.25</c:v>
                </c:pt>
                <c:pt idx="138">
                  <c:v>0.25</c:v>
                </c:pt>
                <c:pt idx="139">
                  <c:v>0.25</c:v>
                </c:pt>
                <c:pt idx="140">
                  <c:v>0.25</c:v>
                </c:pt>
                <c:pt idx="141">
                  <c:v>0.25</c:v>
                </c:pt>
                <c:pt idx="142">
                  <c:v>0.25</c:v>
                </c:pt>
                <c:pt idx="143">
                  <c:v>0.25</c:v>
                </c:pt>
                <c:pt idx="144">
                  <c:v>0.5</c:v>
                </c:pt>
                <c:pt idx="145">
                  <c:v>0.5</c:v>
                </c:pt>
                <c:pt idx="146">
                  <c:v>0.5</c:v>
                </c:pt>
                <c:pt idx="147">
                  <c:v>0.5</c:v>
                </c:pt>
                <c:pt idx="148">
                  <c:v>0.5</c:v>
                </c:pt>
                <c:pt idx="149">
                  <c:v>0.5</c:v>
                </c:pt>
                <c:pt idx="150">
                  <c:v>0.5</c:v>
                </c:pt>
                <c:pt idx="151">
                  <c:v>0.5</c:v>
                </c:pt>
                <c:pt idx="152">
                  <c:v>0.5</c:v>
                </c:pt>
                <c:pt idx="153">
                  <c:v>0.5</c:v>
                </c:pt>
                <c:pt idx="154">
                  <c:v>0.5</c:v>
                </c:pt>
                <c:pt idx="155">
                  <c:v>0.5</c:v>
                </c:pt>
                <c:pt idx="156">
                  <c:v>0.5</c:v>
                </c:pt>
                <c:pt idx="157">
                  <c:v>0.5</c:v>
                </c:pt>
                <c:pt idx="158">
                  <c:v>0.5</c:v>
                </c:pt>
                <c:pt idx="159">
                  <c:v>0.5</c:v>
                </c:pt>
                <c:pt idx="160">
                  <c:v>0.5</c:v>
                </c:pt>
                <c:pt idx="161">
                  <c:v>0.5</c:v>
                </c:pt>
                <c:pt idx="162">
                  <c:v>0.5</c:v>
                </c:pt>
                <c:pt idx="163">
                  <c:v>0.5</c:v>
                </c:pt>
                <c:pt idx="164">
                  <c:v>0.5</c:v>
                </c:pt>
                <c:pt idx="165">
                  <c:v>0.5</c:v>
                </c:pt>
                <c:pt idx="166">
                  <c:v>0.5</c:v>
                </c:pt>
                <c:pt idx="167">
                  <c:v>0.5</c:v>
                </c:pt>
                <c:pt idx="168">
                  <c:v>0.5</c:v>
                </c:pt>
                <c:pt idx="169">
                  <c:v>0.5</c:v>
                </c:pt>
                <c:pt idx="170">
                  <c:v>0.5</c:v>
                </c:pt>
                <c:pt idx="171">
                  <c:v>0.5</c:v>
                </c:pt>
                <c:pt idx="172">
                  <c:v>0.5</c:v>
                </c:pt>
                <c:pt idx="173">
                  <c:v>0.5</c:v>
                </c:pt>
                <c:pt idx="174">
                  <c:v>0.5</c:v>
                </c:pt>
                <c:pt idx="175">
                  <c:v>0.5</c:v>
                </c:pt>
                <c:pt idx="176">
                  <c:v>0.5</c:v>
                </c:pt>
                <c:pt idx="177">
                  <c:v>0.5</c:v>
                </c:pt>
                <c:pt idx="178">
                  <c:v>0.5</c:v>
                </c:pt>
                <c:pt idx="179">
                  <c:v>0.5</c:v>
                </c:pt>
                <c:pt idx="180">
                  <c:v>0.5</c:v>
                </c:pt>
                <c:pt idx="181">
                  <c:v>0.5</c:v>
                </c:pt>
                <c:pt idx="182">
                  <c:v>0.5</c:v>
                </c:pt>
                <c:pt idx="183">
                  <c:v>0.5</c:v>
                </c:pt>
                <c:pt idx="184">
                  <c:v>0.5</c:v>
                </c:pt>
                <c:pt idx="185">
                  <c:v>0.5</c:v>
                </c:pt>
                <c:pt idx="186">
                  <c:v>0.5</c:v>
                </c:pt>
                <c:pt idx="187">
                  <c:v>0.5</c:v>
                </c:pt>
                <c:pt idx="188">
                  <c:v>0.5</c:v>
                </c:pt>
                <c:pt idx="189">
                  <c:v>0.5</c:v>
                </c:pt>
                <c:pt idx="190">
                  <c:v>0.5</c:v>
                </c:pt>
                <c:pt idx="191">
                  <c:v>0.5</c:v>
                </c:pt>
                <c:pt idx="192">
                  <c:v>0.5</c:v>
                </c:pt>
                <c:pt idx="193">
                  <c:v>0.5</c:v>
                </c:pt>
                <c:pt idx="194">
                  <c:v>0.5</c:v>
                </c:pt>
                <c:pt idx="195">
                  <c:v>0.5</c:v>
                </c:pt>
                <c:pt idx="196">
                  <c:v>0.5</c:v>
                </c:pt>
                <c:pt idx="197">
                  <c:v>0.5</c:v>
                </c:pt>
                <c:pt idx="198">
                  <c:v>0.5</c:v>
                </c:pt>
                <c:pt idx="199">
                  <c:v>0.5</c:v>
                </c:pt>
                <c:pt idx="200">
                  <c:v>0.5</c:v>
                </c:pt>
                <c:pt idx="201">
                  <c:v>0.5</c:v>
                </c:pt>
                <c:pt idx="202">
                  <c:v>0.5</c:v>
                </c:pt>
                <c:pt idx="203">
                  <c:v>0.5</c:v>
                </c:pt>
                <c:pt idx="204">
                  <c:v>0.5</c:v>
                </c:pt>
                <c:pt idx="205">
                  <c:v>0.5</c:v>
                </c:pt>
                <c:pt idx="206">
                  <c:v>0.5</c:v>
                </c:pt>
                <c:pt idx="207">
                  <c:v>0.5</c:v>
                </c:pt>
                <c:pt idx="208">
                  <c:v>0.5</c:v>
                </c:pt>
                <c:pt idx="209">
                  <c:v>0.5</c:v>
                </c:pt>
                <c:pt idx="210">
                  <c:v>0.5</c:v>
                </c:pt>
                <c:pt idx="211">
                  <c:v>0.5</c:v>
                </c:pt>
                <c:pt idx="212">
                  <c:v>0.5</c:v>
                </c:pt>
                <c:pt idx="213">
                  <c:v>0.5</c:v>
                </c:pt>
                <c:pt idx="214">
                  <c:v>0.5</c:v>
                </c:pt>
                <c:pt idx="215">
                  <c:v>0.5</c:v>
                </c:pt>
                <c:pt idx="216">
                  <c:v>0.5</c:v>
                </c:pt>
                <c:pt idx="217">
                  <c:v>0.5</c:v>
                </c:pt>
                <c:pt idx="218">
                  <c:v>0.5</c:v>
                </c:pt>
                <c:pt idx="219">
                  <c:v>0.5</c:v>
                </c:pt>
                <c:pt idx="220">
                  <c:v>0.5</c:v>
                </c:pt>
                <c:pt idx="221">
                  <c:v>0.5</c:v>
                </c:pt>
                <c:pt idx="222">
                  <c:v>0.5</c:v>
                </c:pt>
                <c:pt idx="223">
                  <c:v>0.5</c:v>
                </c:pt>
                <c:pt idx="224">
                  <c:v>0.5</c:v>
                </c:pt>
                <c:pt idx="225">
                  <c:v>0.5</c:v>
                </c:pt>
                <c:pt idx="226">
                  <c:v>0.5</c:v>
                </c:pt>
                <c:pt idx="227">
                  <c:v>0.5</c:v>
                </c:pt>
                <c:pt idx="228">
                  <c:v>0.5</c:v>
                </c:pt>
                <c:pt idx="229">
                  <c:v>0.5</c:v>
                </c:pt>
                <c:pt idx="230">
                  <c:v>0.5</c:v>
                </c:pt>
                <c:pt idx="231">
                  <c:v>0.5</c:v>
                </c:pt>
                <c:pt idx="232">
                  <c:v>0.5</c:v>
                </c:pt>
                <c:pt idx="233">
                  <c:v>0.5</c:v>
                </c:pt>
                <c:pt idx="234">
                  <c:v>0.5</c:v>
                </c:pt>
                <c:pt idx="235">
                  <c:v>0.5</c:v>
                </c:pt>
                <c:pt idx="236">
                  <c:v>0.5</c:v>
                </c:pt>
                <c:pt idx="237">
                  <c:v>0.5</c:v>
                </c:pt>
                <c:pt idx="238">
                  <c:v>0.5</c:v>
                </c:pt>
                <c:pt idx="239">
                  <c:v>0.5</c:v>
                </c:pt>
                <c:pt idx="240">
                  <c:v>0.5</c:v>
                </c:pt>
                <c:pt idx="241">
                  <c:v>0.5</c:v>
                </c:pt>
                <c:pt idx="242">
                  <c:v>0.5</c:v>
                </c:pt>
                <c:pt idx="243">
                  <c:v>0.5</c:v>
                </c:pt>
                <c:pt idx="244">
                  <c:v>0.5</c:v>
                </c:pt>
                <c:pt idx="245">
                  <c:v>0.5</c:v>
                </c:pt>
                <c:pt idx="246">
                  <c:v>0.5</c:v>
                </c:pt>
                <c:pt idx="247">
                  <c:v>0.5</c:v>
                </c:pt>
                <c:pt idx="248">
                  <c:v>0.5</c:v>
                </c:pt>
                <c:pt idx="249">
                  <c:v>0.5</c:v>
                </c:pt>
                <c:pt idx="250">
                  <c:v>0.5</c:v>
                </c:pt>
                <c:pt idx="251">
                  <c:v>0.5</c:v>
                </c:pt>
                <c:pt idx="252">
                  <c:v>0.5</c:v>
                </c:pt>
                <c:pt idx="253">
                  <c:v>0.5</c:v>
                </c:pt>
                <c:pt idx="254">
                  <c:v>0.5</c:v>
                </c:pt>
                <c:pt idx="255">
                  <c:v>0.5</c:v>
                </c:pt>
                <c:pt idx="256">
                  <c:v>0.5</c:v>
                </c:pt>
                <c:pt idx="257">
                  <c:v>0.5</c:v>
                </c:pt>
                <c:pt idx="258">
                  <c:v>0.5</c:v>
                </c:pt>
                <c:pt idx="259">
                  <c:v>0.5</c:v>
                </c:pt>
                <c:pt idx="260">
                  <c:v>0.5</c:v>
                </c:pt>
                <c:pt idx="261">
                  <c:v>0.5</c:v>
                </c:pt>
                <c:pt idx="262">
                  <c:v>0.5</c:v>
                </c:pt>
                <c:pt idx="263">
                  <c:v>0.5</c:v>
                </c:pt>
                <c:pt idx="264">
                  <c:v>0.5</c:v>
                </c:pt>
                <c:pt idx="265">
                  <c:v>0.5</c:v>
                </c:pt>
                <c:pt idx="266">
                  <c:v>0.5</c:v>
                </c:pt>
                <c:pt idx="267">
                  <c:v>0.5</c:v>
                </c:pt>
                <c:pt idx="268">
                  <c:v>0.5</c:v>
                </c:pt>
                <c:pt idx="269">
                  <c:v>0.5</c:v>
                </c:pt>
                <c:pt idx="270">
                  <c:v>0.5</c:v>
                </c:pt>
                <c:pt idx="271">
                  <c:v>0.5</c:v>
                </c:pt>
                <c:pt idx="272">
                  <c:v>0.5</c:v>
                </c:pt>
                <c:pt idx="273">
                  <c:v>0.5</c:v>
                </c:pt>
                <c:pt idx="274">
                  <c:v>0.5</c:v>
                </c:pt>
                <c:pt idx="275">
                  <c:v>0.5</c:v>
                </c:pt>
                <c:pt idx="276">
                  <c:v>0.5</c:v>
                </c:pt>
                <c:pt idx="277">
                  <c:v>0.5</c:v>
                </c:pt>
                <c:pt idx="278">
                  <c:v>0.5</c:v>
                </c:pt>
                <c:pt idx="279">
                  <c:v>0.5</c:v>
                </c:pt>
                <c:pt idx="280">
                  <c:v>0.5</c:v>
                </c:pt>
                <c:pt idx="281">
                  <c:v>0.5</c:v>
                </c:pt>
                <c:pt idx="282">
                  <c:v>0.5</c:v>
                </c:pt>
                <c:pt idx="283">
                  <c:v>0.5</c:v>
                </c:pt>
                <c:pt idx="284">
                  <c:v>0.5</c:v>
                </c:pt>
                <c:pt idx="285">
                  <c:v>0.5</c:v>
                </c:pt>
                <c:pt idx="286">
                  <c:v>0.5</c:v>
                </c:pt>
                <c:pt idx="287">
                  <c:v>0.5</c:v>
                </c:pt>
                <c:pt idx="288">
                  <c:v>0.5</c:v>
                </c:pt>
                <c:pt idx="289">
                  <c:v>0.5</c:v>
                </c:pt>
                <c:pt idx="290">
                  <c:v>0.5</c:v>
                </c:pt>
                <c:pt idx="291">
                  <c:v>0.5</c:v>
                </c:pt>
                <c:pt idx="292">
                  <c:v>0.5</c:v>
                </c:pt>
                <c:pt idx="293">
                  <c:v>0.5</c:v>
                </c:pt>
                <c:pt idx="294">
                  <c:v>0.5</c:v>
                </c:pt>
                <c:pt idx="295">
                  <c:v>0.5</c:v>
                </c:pt>
                <c:pt idx="296">
                  <c:v>0.25</c:v>
                </c:pt>
                <c:pt idx="297">
                  <c:v>0.25</c:v>
                </c:pt>
                <c:pt idx="298">
                  <c:v>0.25</c:v>
                </c:pt>
                <c:pt idx="299">
                  <c:v>0.25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A123-4647-ABC1-9ED8BA3228B5}"/>
            </c:ext>
          </c:extLst>
        </c:ser>
        <c:ser>
          <c:idx val="2"/>
          <c:order val="2"/>
          <c:tx>
            <c:strRef>
              <c:f>Sheet1!$B$605</c:f>
              <c:strCache>
                <c:ptCount val="1"/>
                <c:pt idx="0">
                  <c:v>Threat state ÷ 3</c:v>
                </c:pt>
              </c:strCache>
            </c:strRef>
          </c:tx>
          <c:spPr>
            <a:ln w="19050">
              <a:solidFill>
                <a:srgbClr val="C55A11"/>
              </a:solidFill>
            </a:ln>
          </c:spPr>
          <c:marker>
            <c:symbol val="none"/>
          </c:marker>
          <c:xVal>
            <c:numRef>
              <c:f>Sheet1!$A$606:$A$905</c:f>
              <c:numCache>
                <c:formatCode>General</c:formatCode>
                <c:ptCount val="30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  <c:pt idx="101">
                  <c:v>101</c:v>
                </c:pt>
                <c:pt idx="102">
                  <c:v>102</c:v>
                </c:pt>
                <c:pt idx="103">
                  <c:v>103</c:v>
                </c:pt>
                <c:pt idx="104">
                  <c:v>104</c:v>
                </c:pt>
                <c:pt idx="105">
                  <c:v>105</c:v>
                </c:pt>
                <c:pt idx="106">
                  <c:v>106</c:v>
                </c:pt>
                <c:pt idx="107">
                  <c:v>107</c:v>
                </c:pt>
                <c:pt idx="108">
                  <c:v>108</c:v>
                </c:pt>
                <c:pt idx="109">
                  <c:v>109</c:v>
                </c:pt>
                <c:pt idx="110">
                  <c:v>110</c:v>
                </c:pt>
                <c:pt idx="111">
                  <c:v>111</c:v>
                </c:pt>
                <c:pt idx="112">
                  <c:v>112</c:v>
                </c:pt>
                <c:pt idx="113">
                  <c:v>113</c:v>
                </c:pt>
                <c:pt idx="114">
                  <c:v>114</c:v>
                </c:pt>
                <c:pt idx="115">
                  <c:v>115</c:v>
                </c:pt>
                <c:pt idx="116">
                  <c:v>116</c:v>
                </c:pt>
                <c:pt idx="117">
                  <c:v>117</c:v>
                </c:pt>
                <c:pt idx="118">
                  <c:v>118</c:v>
                </c:pt>
                <c:pt idx="119">
                  <c:v>119</c:v>
                </c:pt>
                <c:pt idx="120">
                  <c:v>120</c:v>
                </c:pt>
                <c:pt idx="121">
                  <c:v>121</c:v>
                </c:pt>
                <c:pt idx="122">
                  <c:v>122</c:v>
                </c:pt>
                <c:pt idx="123">
                  <c:v>123</c:v>
                </c:pt>
                <c:pt idx="124">
                  <c:v>124</c:v>
                </c:pt>
                <c:pt idx="125">
                  <c:v>125</c:v>
                </c:pt>
                <c:pt idx="126">
                  <c:v>126</c:v>
                </c:pt>
                <c:pt idx="127">
                  <c:v>127</c:v>
                </c:pt>
                <c:pt idx="128">
                  <c:v>128</c:v>
                </c:pt>
                <c:pt idx="129">
                  <c:v>129</c:v>
                </c:pt>
                <c:pt idx="130">
                  <c:v>130</c:v>
                </c:pt>
                <c:pt idx="131">
                  <c:v>131</c:v>
                </c:pt>
                <c:pt idx="132">
                  <c:v>132</c:v>
                </c:pt>
                <c:pt idx="133">
                  <c:v>133</c:v>
                </c:pt>
                <c:pt idx="134">
                  <c:v>134</c:v>
                </c:pt>
                <c:pt idx="135">
                  <c:v>135</c:v>
                </c:pt>
                <c:pt idx="136">
                  <c:v>136</c:v>
                </c:pt>
                <c:pt idx="137">
                  <c:v>137</c:v>
                </c:pt>
                <c:pt idx="138">
                  <c:v>138</c:v>
                </c:pt>
                <c:pt idx="139">
                  <c:v>139</c:v>
                </c:pt>
                <c:pt idx="140">
                  <c:v>140</c:v>
                </c:pt>
                <c:pt idx="141">
                  <c:v>141</c:v>
                </c:pt>
                <c:pt idx="142">
                  <c:v>142</c:v>
                </c:pt>
                <c:pt idx="143">
                  <c:v>143</c:v>
                </c:pt>
                <c:pt idx="144">
                  <c:v>144</c:v>
                </c:pt>
                <c:pt idx="145">
                  <c:v>145</c:v>
                </c:pt>
                <c:pt idx="146">
                  <c:v>146</c:v>
                </c:pt>
                <c:pt idx="147">
                  <c:v>147</c:v>
                </c:pt>
                <c:pt idx="148">
                  <c:v>148</c:v>
                </c:pt>
                <c:pt idx="149">
                  <c:v>149</c:v>
                </c:pt>
                <c:pt idx="150">
                  <c:v>150</c:v>
                </c:pt>
                <c:pt idx="151">
                  <c:v>151</c:v>
                </c:pt>
                <c:pt idx="152">
                  <c:v>152</c:v>
                </c:pt>
                <c:pt idx="153">
                  <c:v>153</c:v>
                </c:pt>
                <c:pt idx="154">
                  <c:v>154</c:v>
                </c:pt>
                <c:pt idx="155">
                  <c:v>155</c:v>
                </c:pt>
                <c:pt idx="156">
                  <c:v>156</c:v>
                </c:pt>
                <c:pt idx="157">
                  <c:v>157</c:v>
                </c:pt>
                <c:pt idx="158">
                  <c:v>158</c:v>
                </c:pt>
                <c:pt idx="159">
                  <c:v>159</c:v>
                </c:pt>
                <c:pt idx="160">
                  <c:v>160</c:v>
                </c:pt>
                <c:pt idx="161">
                  <c:v>161</c:v>
                </c:pt>
                <c:pt idx="162">
                  <c:v>162</c:v>
                </c:pt>
                <c:pt idx="163">
                  <c:v>163</c:v>
                </c:pt>
                <c:pt idx="164">
                  <c:v>164</c:v>
                </c:pt>
                <c:pt idx="165">
                  <c:v>165</c:v>
                </c:pt>
                <c:pt idx="166">
                  <c:v>166</c:v>
                </c:pt>
                <c:pt idx="167">
                  <c:v>167</c:v>
                </c:pt>
                <c:pt idx="168">
                  <c:v>168</c:v>
                </c:pt>
                <c:pt idx="169">
                  <c:v>169</c:v>
                </c:pt>
                <c:pt idx="170">
                  <c:v>170</c:v>
                </c:pt>
                <c:pt idx="171">
                  <c:v>171</c:v>
                </c:pt>
                <c:pt idx="172">
                  <c:v>172</c:v>
                </c:pt>
                <c:pt idx="173">
                  <c:v>173</c:v>
                </c:pt>
                <c:pt idx="174">
                  <c:v>174</c:v>
                </c:pt>
                <c:pt idx="175">
                  <c:v>175</c:v>
                </c:pt>
                <c:pt idx="176">
                  <c:v>176</c:v>
                </c:pt>
                <c:pt idx="177">
                  <c:v>177</c:v>
                </c:pt>
                <c:pt idx="178">
                  <c:v>178</c:v>
                </c:pt>
                <c:pt idx="179">
                  <c:v>179</c:v>
                </c:pt>
                <c:pt idx="180">
                  <c:v>180</c:v>
                </c:pt>
                <c:pt idx="181">
                  <c:v>181</c:v>
                </c:pt>
                <c:pt idx="182">
                  <c:v>182</c:v>
                </c:pt>
                <c:pt idx="183">
                  <c:v>183</c:v>
                </c:pt>
                <c:pt idx="184">
                  <c:v>184</c:v>
                </c:pt>
                <c:pt idx="185">
                  <c:v>185</c:v>
                </c:pt>
                <c:pt idx="186">
                  <c:v>186</c:v>
                </c:pt>
                <c:pt idx="187">
                  <c:v>187</c:v>
                </c:pt>
                <c:pt idx="188">
                  <c:v>188</c:v>
                </c:pt>
                <c:pt idx="189">
                  <c:v>189</c:v>
                </c:pt>
                <c:pt idx="190">
                  <c:v>190</c:v>
                </c:pt>
                <c:pt idx="191">
                  <c:v>191</c:v>
                </c:pt>
                <c:pt idx="192">
                  <c:v>192</c:v>
                </c:pt>
                <c:pt idx="193">
                  <c:v>193</c:v>
                </c:pt>
                <c:pt idx="194">
                  <c:v>194</c:v>
                </c:pt>
                <c:pt idx="195">
                  <c:v>195</c:v>
                </c:pt>
                <c:pt idx="196">
                  <c:v>196</c:v>
                </c:pt>
                <c:pt idx="197">
                  <c:v>197</c:v>
                </c:pt>
                <c:pt idx="198">
                  <c:v>198</c:v>
                </c:pt>
                <c:pt idx="199">
                  <c:v>199</c:v>
                </c:pt>
                <c:pt idx="200">
                  <c:v>200</c:v>
                </c:pt>
                <c:pt idx="201">
                  <c:v>201</c:v>
                </c:pt>
                <c:pt idx="202">
                  <c:v>202</c:v>
                </c:pt>
                <c:pt idx="203">
                  <c:v>203</c:v>
                </c:pt>
                <c:pt idx="204">
                  <c:v>204</c:v>
                </c:pt>
                <c:pt idx="205">
                  <c:v>205</c:v>
                </c:pt>
                <c:pt idx="206">
                  <c:v>206</c:v>
                </c:pt>
                <c:pt idx="207">
                  <c:v>207</c:v>
                </c:pt>
                <c:pt idx="208">
                  <c:v>208</c:v>
                </c:pt>
                <c:pt idx="209">
                  <c:v>209</c:v>
                </c:pt>
                <c:pt idx="210">
                  <c:v>210</c:v>
                </c:pt>
                <c:pt idx="211">
                  <c:v>211</c:v>
                </c:pt>
                <c:pt idx="212">
                  <c:v>212</c:v>
                </c:pt>
                <c:pt idx="213">
                  <c:v>213</c:v>
                </c:pt>
                <c:pt idx="214">
                  <c:v>214</c:v>
                </c:pt>
                <c:pt idx="215">
                  <c:v>215</c:v>
                </c:pt>
                <c:pt idx="216">
                  <c:v>216</c:v>
                </c:pt>
                <c:pt idx="217">
                  <c:v>217</c:v>
                </c:pt>
                <c:pt idx="218">
                  <c:v>218</c:v>
                </c:pt>
                <c:pt idx="219">
                  <c:v>219</c:v>
                </c:pt>
                <c:pt idx="220">
                  <c:v>220</c:v>
                </c:pt>
                <c:pt idx="221">
                  <c:v>221</c:v>
                </c:pt>
                <c:pt idx="222">
                  <c:v>222</c:v>
                </c:pt>
                <c:pt idx="223">
                  <c:v>223</c:v>
                </c:pt>
                <c:pt idx="224">
                  <c:v>224</c:v>
                </c:pt>
                <c:pt idx="225">
                  <c:v>225</c:v>
                </c:pt>
                <c:pt idx="226">
                  <c:v>226</c:v>
                </c:pt>
                <c:pt idx="227">
                  <c:v>227</c:v>
                </c:pt>
                <c:pt idx="228">
                  <c:v>228</c:v>
                </c:pt>
                <c:pt idx="229">
                  <c:v>229</c:v>
                </c:pt>
                <c:pt idx="230">
                  <c:v>230</c:v>
                </c:pt>
                <c:pt idx="231">
                  <c:v>231</c:v>
                </c:pt>
                <c:pt idx="232">
                  <c:v>232</c:v>
                </c:pt>
                <c:pt idx="233">
                  <c:v>233</c:v>
                </c:pt>
                <c:pt idx="234">
                  <c:v>234</c:v>
                </c:pt>
                <c:pt idx="235">
                  <c:v>235</c:v>
                </c:pt>
                <c:pt idx="236">
                  <c:v>236</c:v>
                </c:pt>
                <c:pt idx="237">
                  <c:v>237</c:v>
                </c:pt>
                <c:pt idx="238">
                  <c:v>238</c:v>
                </c:pt>
                <c:pt idx="239">
                  <c:v>239</c:v>
                </c:pt>
                <c:pt idx="240">
                  <c:v>240</c:v>
                </c:pt>
                <c:pt idx="241">
                  <c:v>241</c:v>
                </c:pt>
                <c:pt idx="242">
                  <c:v>242</c:v>
                </c:pt>
                <c:pt idx="243">
                  <c:v>243</c:v>
                </c:pt>
                <c:pt idx="244">
                  <c:v>244</c:v>
                </c:pt>
                <c:pt idx="245">
                  <c:v>245</c:v>
                </c:pt>
                <c:pt idx="246">
                  <c:v>246</c:v>
                </c:pt>
                <c:pt idx="247">
                  <c:v>247</c:v>
                </c:pt>
                <c:pt idx="248">
                  <c:v>248</c:v>
                </c:pt>
                <c:pt idx="249">
                  <c:v>249</c:v>
                </c:pt>
                <c:pt idx="250">
                  <c:v>250</c:v>
                </c:pt>
                <c:pt idx="251">
                  <c:v>251</c:v>
                </c:pt>
                <c:pt idx="252">
                  <c:v>252</c:v>
                </c:pt>
                <c:pt idx="253">
                  <c:v>253</c:v>
                </c:pt>
                <c:pt idx="254">
                  <c:v>254</c:v>
                </c:pt>
                <c:pt idx="255">
                  <c:v>255</c:v>
                </c:pt>
                <c:pt idx="256">
                  <c:v>256</c:v>
                </c:pt>
                <c:pt idx="257">
                  <c:v>257</c:v>
                </c:pt>
                <c:pt idx="258">
                  <c:v>258</c:v>
                </c:pt>
                <c:pt idx="259">
                  <c:v>259</c:v>
                </c:pt>
                <c:pt idx="260">
                  <c:v>260</c:v>
                </c:pt>
                <c:pt idx="261">
                  <c:v>261</c:v>
                </c:pt>
                <c:pt idx="262">
                  <c:v>262</c:v>
                </c:pt>
                <c:pt idx="263">
                  <c:v>263</c:v>
                </c:pt>
                <c:pt idx="264">
                  <c:v>264</c:v>
                </c:pt>
                <c:pt idx="265">
                  <c:v>265</c:v>
                </c:pt>
                <c:pt idx="266">
                  <c:v>266</c:v>
                </c:pt>
                <c:pt idx="267">
                  <c:v>267</c:v>
                </c:pt>
                <c:pt idx="268">
                  <c:v>268</c:v>
                </c:pt>
                <c:pt idx="269">
                  <c:v>269</c:v>
                </c:pt>
                <c:pt idx="270">
                  <c:v>270</c:v>
                </c:pt>
                <c:pt idx="271">
                  <c:v>271</c:v>
                </c:pt>
                <c:pt idx="272">
                  <c:v>272</c:v>
                </c:pt>
                <c:pt idx="273">
                  <c:v>273</c:v>
                </c:pt>
                <c:pt idx="274">
                  <c:v>274</c:v>
                </c:pt>
                <c:pt idx="275">
                  <c:v>275</c:v>
                </c:pt>
                <c:pt idx="276">
                  <c:v>276</c:v>
                </c:pt>
                <c:pt idx="277">
                  <c:v>277</c:v>
                </c:pt>
                <c:pt idx="278">
                  <c:v>278</c:v>
                </c:pt>
                <c:pt idx="279">
                  <c:v>279</c:v>
                </c:pt>
                <c:pt idx="280">
                  <c:v>280</c:v>
                </c:pt>
                <c:pt idx="281">
                  <c:v>281</c:v>
                </c:pt>
                <c:pt idx="282">
                  <c:v>282</c:v>
                </c:pt>
                <c:pt idx="283">
                  <c:v>283</c:v>
                </c:pt>
                <c:pt idx="284">
                  <c:v>284</c:v>
                </c:pt>
                <c:pt idx="285">
                  <c:v>285</c:v>
                </c:pt>
                <c:pt idx="286">
                  <c:v>286</c:v>
                </c:pt>
                <c:pt idx="287">
                  <c:v>287</c:v>
                </c:pt>
                <c:pt idx="288">
                  <c:v>288</c:v>
                </c:pt>
                <c:pt idx="289">
                  <c:v>289</c:v>
                </c:pt>
                <c:pt idx="290">
                  <c:v>290</c:v>
                </c:pt>
                <c:pt idx="291">
                  <c:v>291</c:v>
                </c:pt>
                <c:pt idx="292">
                  <c:v>292</c:v>
                </c:pt>
                <c:pt idx="293">
                  <c:v>293</c:v>
                </c:pt>
                <c:pt idx="294">
                  <c:v>294</c:v>
                </c:pt>
                <c:pt idx="295">
                  <c:v>295</c:v>
                </c:pt>
                <c:pt idx="296">
                  <c:v>296</c:v>
                </c:pt>
                <c:pt idx="297">
                  <c:v>297</c:v>
                </c:pt>
                <c:pt idx="298">
                  <c:v>298</c:v>
                </c:pt>
                <c:pt idx="299">
                  <c:v>299</c:v>
                </c:pt>
              </c:numCache>
            </c:numRef>
          </c:xVal>
          <c:yVal>
            <c:numRef>
              <c:f>Sheet1!$B$606:$B$905</c:f>
              <c:numCache>
                <c:formatCode>General</c:formatCode>
                <c:ptCount val="30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0.33333333333333331</c:v>
                </c:pt>
                <c:pt idx="145">
                  <c:v>0.33333333333333331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  <c:pt idx="294">
                  <c:v>1</c:v>
                </c:pt>
                <c:pt idx="295">
                  <c:v>1</c:v>
                </c:pt>
                <c:pt idx="296">
                  <c:v>1</c:v>
                </c:pt>
                <c:pt idx="297">
                  <c:v>1</c:v>
                </c:pt>
                <c:pt idx="298">
                  <c:v>1</c:v>
                </c:pt>
                <c:pt idx="299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A123-4647-ABC1-9ED8BA3228B5}"/>
            </c:ext>
          </c:extLst>
        </c:ser>
        <c:ser>
          <c:idx val="3"/>
          <c:order val="3"/>
          <c:tx>
            <c:strRef>
              <c:f>Sheet1!$B$907</c:f>
              <c:strCache>
                <c:ptCount val="1"/>
                <c:pt idx="0">
                  <c:v>Ground-truth attack window</c:v>
                </c:pt>
              </c:strCache>
            </c:strRef>
          </c:tx>
          <c:spPr>
            <a:ln w="19050">
              <a:solidFill>
                <a:srgbClr val="2E7D32"/>
              </a:solidFill>
              <a:prstDash val="dash"/>
            </a:ln>
          </c:spPr>
          <c:marker>
            <c:symbol val="none"/>
          </c:marker>
          <c:xVal>
            <c:numRef>
              <c:f>Sheet1!$A$908:$A$911</c:f>
              <c:numCache>
                <c:formatCode>General</c:formatCode>
                <c:ptCount val="4"/>
                <c:pt idx="0">
                  <c:v>115.6</c:v>
                </c:pt>
                <c:pt idx="1">
                  <c:v>115.6</c:v>
                </c:pt>
                <c:pt idx="2">
                  <c:v>265.60000000000002</c:v>
                </c:pt>
                <c:pt idx="3">
                  <c:v>265.60000000000002</c:v>
                </c:pt>
              </c:numCache>
            </c:numRef>
          </c:xVal>
          <c:yVal>
            <c:numRef>
              <c:f>Sheet1!$B$908:$B$911</c:f>
              <c:numCache>
                <c:formatCode>General</c:formatCode>
                <c:ptCount val="4"/>
                <c:pt idx="0">
                  <c:v>0</c:v>
                </c:pt>
                <c:pt idx="1">
                  <c:v>1.05</c:v>
                </c:pt>
                <c:pt idx="2">
                  <c:v>1.05</c:v>
                </c:pt>
                <c:pt idx="3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A123-4647-ABC1-9ED8BA322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3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 sz="1000">
                    <a:solidFill>
                      <a:srgbClr val="5A7183"/>
                    </a:solidFill>
                  </a:rPr>
                  <a:t>seconds into the capture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3DFE9"/>
            </a:solidFill>
          </a:ln>
        </c:spPr>
        <c:txPr>
          <a:bodyPr/>
          <a:lstStyle/>
          <a:p>
            <a:pPr>
              <a:defRPr sz="1000">
                <a:solidFill>
                  <a:srgbClr val="5A7183"/>
                </a:solidFill>
                <a:latin typeface="Calibri"/>
              </a:defRPr>
            </a:pPr>
            <a:endParaRPr lang="en-US"/>
          </a:p>
        </c:txPr>
        <c:crossAx val="-2129643912"/>
        <c:crosses val="autoZero"/>
        <c:crossBetween val="midCat"/>
        <c:majorUnit val="50"/>
      </c:valAx>
      <c:valAx>
        <c:axId val="-2129643912"/>
        <c:scaling>
          <c:orientation val="minMax"/>
          <c:max val="1.1000000000000001"/>
          <c:min val="0"/>
        </c:scaling>
        <c:delete val="0"/>
        <c:axPos val="l"/>
        <c:majorGridlines>
          <c:spPr>
            <a:ln>
              <a:solidFill>
                <a:srgbClr val="E3EAF1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solidFill>
              <a:srgbClr val="D3DFE9"/>
            </a:solidFill>
          </a:ln>
        </c:spPr>
        <c:txPr>
          <a:bodyPr/>
          <a:lstStyle/>
          <a:p>
            <a:pPr>
              <a:defRPr sz="1000">
                <a:solidFill>
                  <a:srgbClr val="5A7183"/>
                </a:solidFill>
                <a:latin typeface="Calibri"/>
              </a:defRPr>
            </a:pPr>
            <a:endParaRPr lang="en-US"/>
          </a:p>
        </c:txPr>
        <c:crossAx val="-2128940872"/>
        <c:crosses val="autoZero"/>
        <c:crossBetween val="midCat"/>
        <c:majorUnit val="0.25"/>
      </c:valAx>
    </c:plotArea>
    <c:legend>
      <c:legendPos val="b"/>
      <c:overlay val="0"/>
      <c:txPr>
        <a:bodyPr/>
        <a:lstStyle/>
        <a:p>
          <a:pPr>
            <a:defRPr sz="1000">
              <a:latin typeface="Calibri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A0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INVESTIGATION LAYER (PLANNED)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481328"/>
            <a:ext cx="3977639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93000"/>
            </a:srgbClr>
          </a:solidFill>
          <a:ln w="1587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81728" y="1481328"/>
            <a:ext cx="7059168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83480" y="1755648"/>
            <a:ext cx="6492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1E6F9F"/>
                </a:solidFill>
                <a:latin typeface="Trebuchet MS"/>
              </a:rPr>
              <a:t>PLAN  </a:t>
            </a:r>
            <a:r>
              <a:rPr lang="en-US" sz="1100" b="1" dirty="0">
                <a:solidFill>
                  <a:srgbClr val="1E6F9F"/>
                </a:solidFill>
                <a:latin typeface="Trebuchet MS"/>
              </a:rPr>
              <a:t>- </a:t>
            </a:r>
            <a:r>
              <a:rPr sz="1100" b="1" i="0" dirty="0">
                <a:solidFill>
                  <a:srgbClr val="1E6F9F"/>
                </a:solidFill>
                <a:latin typeface="Trebuchet MS"/>
              </a:rPr>
              <a:t> from a network alert to a reconstructed, court-ready case (20 Nov PoC)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A0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6048" y="2121408"/>
            <a:ext cx="6510528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65776" y="2167128"/>
            <a:ext cx="63093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/>
            <a:r>
              <a:rPr sz="1050" b="0" i="0">
                <a:solidFill>
                  <a:srgbClr val="16324B"/>
                </a:solidFill>
                <a:latin typeface="Calibri"/>
              </a:rPr>
              <a:t>Each row is one evaluation criterion. Left: what is built and measured today. Right: what the 20 Nov PoC adds (planned, not yet measured).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345472"/>
              </p:ext>
            </p:extLst>
          </p:nvPr>
        </p:nvGraphicFramePr>
        <p:xfrm>
          <a:off x="4956048" y="2670048"/>
          <a:ext cx="651052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8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Criterion  ·  built today</a:t>
                      </a:r>
                    </a:p>
                  </a:txBody>
                  <a:tcPr marL="73152" marR="73152" marT="36576" marB="36576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/>
                        </a:rPr>
                        <a:t>Added by the 20 Nov PoC (planned)</a:t>
                      </a:r>
                    </a:p>
                  </a:txBody>
                  <a:tcPr marL="73152" marR="73152" marT="36576" marB="36576" anchor="ctr">
                    <a:solidFill>
                      <a:srgbClr val="16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6324B"/>
                          </a:solidFill>
                          <a:latin typeface="Calibri"/>
                        </a:rPr>
                        <a:t>Evidence processing &amp; extraction</a:t>
                      </a:r>
                    </a:p>
                    <a:p>
                      <a:r>
                        <a:rPr lang="en-US" sz="900" b="0" dirty="0">
                          <a:solidFill>
                            <a:srgbClr val="5A7183"/>
                          </a:solidFill>
                          <a:latin typeface="Calibri"/>
                        </a:rPr>
                        <a:t>Today: PCAP to directional flows, SHA-256 on intake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Add Zeek/Suricata, Sysmon, firewall, proxy and DHCP logs plus offline threat-intel lists, each hashed and logged on intake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6324B"/>
                          </a:solidFill>
                          <a:latin typeface="Calibri"/>
                        </a:rPr>
                        <a:t>Cross-source correlation</a:t>
                      </a:r>
                    </a:p>
                    <a:p>
                      <a:r>
                        <a:rPr lang="en-US" sz="900" b="0" dirty="0">
                          <a:solidFill>
                            <a:srgbClr val="5A7183"/>
                          </a:solidFill>
                          <a:latin typeface="Calibri"/>
                        </a:rPr>
                        <a:t>Today: four engines on one capture</a:t>
                      </a:r>
                    </a:p>
                  </a:txBody>
                  <a:tcPr marL="73152" marR="73152" marT="36576" marB="36576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Link IP, hostname, user and process across sources; a finding is "confirmed" only when two independent sources agree</a:t>
                      </a:r>
                    </a:p>
                  </a:txBody>
                  <a:tcPr marL="73152" marR="73152" marT="36576" marB="36576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6324B"/>
                          </a:solidFill>
                          <a:latin typeface="Calibri"/>
                        </a:rPr>
                        <a:t>Timeline &amp; reconstruction</a:t>
                      </a:r>
                    </a:p>
                    <a:p>
                      <a:r>
                        <a:rPr lang="en-US" sz="900" b="0" dirty="0">
                          <a:solidFill>
                            <a:srgbClr val="5A7183"/>
                          </a:solidFill>
                          <a:latin typeface="Calibri"/>
                        </a:rPr>
                        <a:t>Today: per-host trajectory, Normal to High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One merged UTC case timeline with per-device clock-offset correction; attack stages tagged with MITRE ATT&amp;CK IDs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6324B"/>
                          </a:solidFill>
                          <a:latin typeface="Calibri"/>
                        </a:rPr>
                        <a:t>Traceability &amp; explainability</a:t>
                      </a:r>
                    </a:p>
                    <a:p>
                      <a:r>
                        <a:rPr lang="en-US" sz="900" b="0" dirty="0">
                          <a:solidFill>
                            <a:srgbClr val="5A7183"/>
                          </a:solidFill>
                          <a:latin typeface="Calibri"/>
                        </a:rPr>
                        <a:t>Today: reasons per incident, UNKNOWN, hash ledger</a:t>
                      </a:r>
                    </a:p>
                  </a:txBody>
                  <a:tcPr marL="73152" marR="73152" marT="36576" marB="36576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Every finding cites frame numbers, flow IDs, a Wireshark filter and a sealed excerpt PCAP; BSA Sec. 63 certificate draft</a:t>
                      </a:r>
                    </a:p>
                  </a:txBody>
                  <a:tcPr marL="73152" marR="73152" marT="36576" marB="36576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6324B"/>
                          </a:solidFill>
                          <a:latin typeface="Calibri"/>
                        </a:rPr>
                        <a:t>Multimedia / fraud analysis</a:t>
                      </a:r>
                    </a:p>
                    <a:p>
                      <a:r>
                        <a:rPr lang="en-US" sz="900" b="0" dirty="0">
                          <a:solidFill>
                            <a:srgbClr val="5A7183"/>
                          </a:solidFill>
                          <a:latin typeface="Calibri"/>
                        </a:rPr>
                        <a:t>Today: not covered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Files recovered from cleartext traffic (hash, true type, entropy), image-tamper checks, look-alike and generated-domain scoring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16324B"/>
                          </a:solidFill>
                          <a:latin typeface="Calibri"/>
                        </a:rPr>
                        <a:t>Performance &amp; usability</a:t>
                      </a:r>
                    </a:p>
                    <a:p>
                      <a:r>
                        <a:rPr lang="en-US" sz="900" b="0" dirty="0">
                          <a:solidFill>
                            <a:srgbClr val="5A7183"/>
                          </a:solidFill>
                          <a:latin typeface="Calibri"/>
                        </a:rPr>
                        <a:t>Today: 22,011 packets/s; 5 min of capture in 1.85 s</a:t>
                      </a:r>
                    </a:p>
                  </a:txBody>
                  <a:tcPr marL="73152" marR="73152" marT="36576" marB="36576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Case dashboard (timeline, graph, findings with "why"), one-click PDF report</a:t>
                      </a:r>
                    </a:p>
                  </a:txBody>
                  <a:tcPr marL="73152" marR="73152" marT="36576" marB="36576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58368" y="1755648"/>
            <a:ext cx="3575304" cy="4334256"/>
          </a:xfrm>
          <a:prstGeom prst="roundRect">
            <a:avLst>
              <a:gd name="adj" fmla="val 12000"/>
            </a:avLst>
          </a:prstGeom>
          <a:solidFill>
            <a:srgbClr val="EEF4F9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384" y="1865376"/>
            <a:ext cx="3337560" cy="41330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t"/>
          <a:lstStyle/>
          <a:p>
            <a:pPr algn="l">
              <a:spcAft>
                <a:spcPts val="600"/>
              </a:spcAft>
            </a:pPr>
            <a:r>
              <a:rPr lang="en-US" sz="1300" b="1" i="0" dirty="0">
                <a:solidFill>
                  <a:srgbClr val="1E6F9F"/>
                </a:solidFill>
                <a:latin typeface="Trebuchet MS"/>
              </a:rPr>
              <a:t>Design rules</a:t>
            </a:r>
          </a:p>
          <a:p>
            <a:pPr algn="l">
              <a:spcAft>
                <a:spcPts val="700"/>
              </a:spcAft>
            </a:pPr>
            <a:r>
              <a:rPr lang="en-US" sz="1200" b="1" i="0" dirty="0">
                <a:solidFill>
                  <a:srgbClr val="16324B"/>
                </a:solidFill>
                <a:latin typeface="Calibri"/>
              </a:rPr>
              <a:t>▪ Cite or drop:  </a:t>
            </a:r>
            <a:r>
              <a:rPr lang="en-US" sz="1200" b="0" i="0" dirty="0">
                <a:solidFill>
                  <a:srgbClr val="334455"/>
                </a:solidFill>
                <a:latin typeface="Calibri"/>
              </a:rPr>
              <a:t>every statement points to a frame, log line or record, or it is not reported</a:t>
            </a:r>
          </a:p>
          <a:p>
            <a:pPr algn="l">
              <a:spcAft>
                <a:spcPts val="700"/>
              </a:spcAft>
            </a:pPr>
            <a:r>
              <a:rPr lang="en-US" sz="1200" b="1" i="0" dirty="0">
                <a:solidFill>
                  <a:srgbClr val="16324B"/>
                </a:solidFill>
                <a:latin typeface="Calibri"/>
              </a:rPr>
              <a:t>▪ Corroborate:  </a:t>
            </a:r>
            <a:r>
              <a:rPr lang="en-US" sz="1200" b="0" i="0" dirty="0">
                <a:solidFill>
                  <a:srgbClr val="334455"/>
                </a:solidFill>
                <a:latin typeface="Calibri"/>
              </a:rPr>
              <a:t>a finding is confirmed only when two independent sources agree</a:t>
            </a:r>
          </a:p>
          <a:p>
            <a:pPr algn="l">
              <a:spcAft>
                <a:spcPts val="700"/>
              </a:spcAft>
            </a:pPr>
            <a:r>
              <a:rPr lang="en-US" sz="1200" b="1" i="0" dirty="0">
                <a:solidFill>
                  <a:srgbClr val="16324B"/>
                </a:solidFill>
                <a:latin typeface="Calibri"/>
              </a:rPr>
              <a:t>▪ One clock:  </a:t>
            </a:r>
            <a:r>
              <a:rPr lang="en-US" sz="1200" b="0" i="0" dirty="0">
                <a:solidFill>
                  <a:srgbClr val="334455"/>
                </a:solidFill>
                <a:latin typeface="Calibri"/>
              </a:rPr>
              <a:t>all sources in UTC; each device’s clock offset is estimated and shown</a:t>
            </a:r>
          </a:p>
          <a:p>
            <a:pPr algn="l">
              <a:spcAft>
                <a:spcPts val="700"/>
              </a:spcAft>
            </a:pPr>
            <a:r>
              <a:rPr lang="en-US" sz="1200" b="1" i="0" dirty="0">
                <a:solidFill>
                  <a:srgbClr val="16324B"/>
                </a:solidFill>
                <a:latin typeface="Calibri"/>
              </a:rPr>
              <a:t>▪ Abstain:  </a:t>
            </a:r>
            <a:r>
              <a:rPr lang="en-US" sz="1200" b="0" i="0" dirty="0">
                <a:solidFill>
                  <a:srgbClr val="334455"/>
                </a:solidFill>
                <a:latin typeface="Calibri"/>
              </a:rPr>
              <a:t>UNKNOWN stays UNKNOWN; the report never guesses</a:t>
            </a:r>
          </a:p>
          <a:p>
            <a:pPr algn="l">
              <a:spcAft>
                <a:spcPts val="700"/>
              </a:spcAft>
            </a:pPr>
            <a:r>
              <a:rPr lang="en-US" sz="1200" b="1" i="0" dirty="0">
                <a:solidFill>
                  <a:srgbClr val="16324B"/>
                </a:solidFill>
                <a:latin typeface="Calibri"/>
              </a:rPr>
              <a:t>▪ Reproduce:  </a:t>
            </a:r>
            <a:r>
              <a:rPr lang="en-US" sz="1200" b="0" i="0" dirty="0">
                <a:solidFill>
                  <a:srgbClr val="334455"/>
                </a:solidFill>
                <a:latin typeface="Calibri"/>
              </a:rPr>
              <a:t>same evidence and config hash give the same report</a:t>
            </a:r>
          </a:p>
          <a:p>
            <a:pPr algn="l">
              <a:spcAft>
                <a:spcPts val="0"/>
              </a:spcAft>
            </a:pPr>
            <a:r>
              <a:rPr lang="en-US" sz="1000" b="0" i="1" dirty="0">
                <a:solidFill>
                  <a:srgbClr val="5A7183"/>
                </a:solidFill>
                <a:latin typeface="Calibri"/>
              </a:rPr>
              <a:t>The detection engine underneath is built and measured (slides 5–7); this layer is planned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RUBRIC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83696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EigenThinkers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700784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E6F9F"/>
                </a:solidFill>
                <a:latin typeface="Trebuchet MS"/>
              </a:rPr>
              <a:t>APPENDIX  -  each criterion mapped to slides, status and evidence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2103120"/>
          <a:ext cx="10744200" cy="3511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Weight*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Status in this prototype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Evidence processing &amp; extraction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5, A2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Implemented: </a:t>
                      </a:r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PCAP input only; directional 5-tuple flows; 5 s windows, 1 s step, per host; SHA-256 on intake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demo1: 27,149 packets → 3,527 flows → 6,600 host-windows in 1.77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Cross-source evidence correlation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3–5, A0, A2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C55A11"/>
                          </a:solidFill>
                          <a:latin typeface="Calibri"/>
                        </a:rPr>
                        <a:t>Partial: </a:t>
                      </a:r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four engines must agree on one capture; these are four analyses of the same data, not independent sources. Log sources planned (A0)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Ablation: without the graph engine 16/16 → 4/16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Crime timeline &amp; reconstruction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4–5, A3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C55A11"/>
                          </a:solidFill>
                          <a:latin typeface="Calibri"/>
                        </a:rPr>
                        <a:t>Partial: </a:t>
                      </a:r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per-host cyber-incident (threat-trajectory) reconstruction; no multi-host case timeline yet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demo1: first engine 135 s, 2-of-4 at 144 s, incident at 146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Accuracy, traceability &amp; explainability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6–7, A2, A4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Implemented and measured (synthetic): </a:t>
                      </a:r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written reasons, frozen thresholds, UNKNOWN rejection, hash-linked ledger; frame-level citation planned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16/16 detected; 8/14 named, 6 UNKNOWN; 5/5 never-seen UNKNOWN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Multimedia / fraud analysis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8, A0, A5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B3261E"/>
                          </a:solidFill>
                          <a:latin typeface="Calibri"/>
                        </a:rPr>
                        <a:t>Not supported: </a:t>
                      </a:r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flow metadata only; smallest credible extension proposed as future work (A5)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None yet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Performance &amp; usability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6–7, A4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Measured: </a:t>
                      </a:r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throughput, latency, memory on one CPU core; dashboard exists; no user study yet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22,011 pkt/s, 162 Mbps, 549 MB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Presentation &amp; demonstration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3–9, A0–A5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E7D32"/>
                          </a:solidFill>
                          <a:latin typeface="Calibri"/>
                        </a:rPr>
                        <a:t>Provided: </a:t>
                      </a:r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worked example, reconstruction, limitations, reproducible demo steps, 3-minute demo video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Commands and expected outputs on A5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" y="5788152"/>
            <a:ext cx="1078992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5A7183"/>
                </a:solidFill>
                <a:latin typeface="Calibri"/>
              </a:rPr>
              <a:t>*Weights as published total 120%, not 100%; shown unmodified, pending confirmation from the organisers.  Implemented = built and run on held-out synthetic captures; Partial = narrower than the criterion; Planned/Not supported = not built.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WORKED EXAMPLE: ONE INCIDENT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83696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EigenThinkers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703" y="1700784"/>
            <a:ext cx="1069848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dirty="0">
                <a:solidFill>
                  <a:srgbClr val="1E6F9F"/>
                </a:solidFill>
                <a:latin typeface="Trebuchet MS"/>
              </a:rPr>
              <a:t>APPENDIX  -  demo1_c2 traced from the capture to the sealed record (all values from results/)</a:t>
            </a:r>
            <a:r>
              <a:rPr lang="en-US" sz="1100" b="1" i="0" dirty="0">
                <a:solidFill>
                  <a:srgbClr val="1E6F9F"/>
                </a:solidFill>
                <a:latin typeface="Trebuchet MS"/>
              </a:rPr>
              <a:t> ( DEMO VIDEO CONTENT MAPPING )</a:t>
            </a:r>
            <a:endParaRPr sz="1100" b="1" i="0" dirty="0">
              <a:solidFill>
                <a:srgbClr val="1E6F9F"/>
              </a:solidFill>
              <a:latin typeface="Trebuchet M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31520" y="2084831"/>
            <a:ext cx="347472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194560"/>
            <a:ext cx="3200400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1  Input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demo1_c2.pcap, 300 s, synthetic held-out capture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SHA-256 05615006…bd6bc928b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27,149 packets, read-only, nothing 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2084831"/>
            <a:ext cx="3474720" cy="175564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98848" y="2194560"/>
            <a:ext cx="3200400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2  Extraction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3,527 directional 5-tuple flows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6,600 host-windows (5 s window, 1 s step)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processed in 1.77 s on one CPU 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2084831"/>
            <a:ext cx="347472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29016" y="2194560"/>
            <a:ext cx="3200400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3  Four engine scores, host 10.0.0.25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Mahalanobis 0.20 · Isolation Forest 0.33 (weak alone)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TCN 1.00 · Graph 0.97 (strong)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same capture, four different representations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959352"/>
            <a:ext cx="3474720" cy="175564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069080"/>
            <a:ext cx="3200400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4  Fusion and agreement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S = 1 − Π(1 − Aᵢ)^0.25  →  peak 0.9998 ≥ τ_sev 0.985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C = #engines with Aᵢ ≥ 0.99  →  2 ≥ n_min 2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persistence P = 0.99 over k = 6 windows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3959352"/>
            <a:ext cx="3474720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498848" y="4069080"/>
            <a:ext cx="3200400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5  Attack-vector decision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S_C2 = (C/4)·P·Σ wⱼφⱼ = (1.97/4)(0.99)(0.943) = 0.463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RECON 0.145 · EXFIL 0.072 · DDOS 0.000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0.463 ≥ τ 0.415 and margin 0.318 ≥ δ 0.095  →  C2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91856" y="3959352"/>
            <a:ext cx="3474720" cy="1755648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9016" y="4069080"/>
            <a:ext cx="3200400" cy="15727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i="0">
                <a:solidFill>
                  <a:srgbClr val="16324B"/>
                </a:solidFill>
                <a:latin typeface="Trebuchet MS"/>
              </a:rPr>
              <a:t>6  Reasons and record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destination focus 1.00 · periodicity 0.89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destination persistence 0.87 · jitter regularity 0.88</a:t>
            </a:r>
          </a:p>
          <a:p>
            <a:pPr algn="l">
              <a:spcAft>
                <a:spcPts val="700"/>
              </a:spcAft>
            </a:pPr>
            <a:r>
              <a:rPr sz="1200" b="0" i="0">
                <a:solidFill>
                  <a:srgbClr val="334455"/>
                </a:solidFill>
                <a:latin typeface="Calibri"/>
              </a:rPr>
              <a:t>▪ ledger #0  prev 0000…  hash b62f92db2a3f…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5A7183"/>
                </a:solidFill>
                <a:latin typeface="Calibri"/>
              </a:rPr>
              <a:t>Recomputing S_C2 from the listed φ values and the frozen weights in configs/default.yaml gives 0.4626, the reported score. Ground truth (test only): beaconing 116–266 s; incident window 146–299 s. Agreement here is between analyses of one capture, not independent evidence sources.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INCIDENT RECONSTRUCTION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83696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EigenThinkers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A3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700784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E6F9F"/>
                </a:solidFill>
                <a:latin typeface="Trebuchet MS"/>
              </a:rPr>
              <a:t>APPENDIX  -  cyber-incident (threat-trajectory) reconstruction for demo1_c2, one host, one capture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731520" y="2057400"/>
          <a:ext cx="64922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406640" y="2057400"/>
          <a:ext cx="4251960" cy="3438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Reconstructed event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0–114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Baseline: severity ≤ 0.21, no engine past its threshold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per-host windows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115.6 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Beaconing to 198.51.100.42 begins (unknown to the system)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ground truth (test only)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135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First engine crosses its threshold (C = 1)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engine scores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144 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Second engine agrees (C = 2): state Emerging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fusion record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146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Persistent, then High-confidence: incident opened and sealed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ledger #0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155 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Peak severity 0.9998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fusion record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265.6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Beaconing ends (ground truth)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ground truth (test only)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6324B"/>
                          </a:solidFill>
                          <a:latin typeface="Calibri"/>
                        </a:rPr>
                        <a:t>299 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Incident still open at end of capture; labelled C2-like beaconing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334455"/>
                          </a:solidFill>
                          <a:latin typeface="Calibri"/>
                        </a:rPr>
                        <a:t>incident report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31520" y="576072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5A7183"/>
                </a:solidFill>
                <a:latin typeface="Calibri"/>
              </a:rPr>
              <a:t>Drill-down today: ledger record → incident window → host-windows → flows. Frame-level citations and a merged multi-host, multi-source case timeline are planned (A0). Limitation shown here: the incident stays open after the beaconing stops.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VALIDATION AND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83696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EigenThinkers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A4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700784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E6F9F"/>
                </a:solidFill>
                <a:latin typeface="Trebuchet MS"/>
              </a:rPr>
              <a:t>APPENDIX  -  synthetic evaluation: how it was tested, what it shows, what it does not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2057400"/>
          <a:ext cx="64008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design / metric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Result (synthetic held-out captures)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Training data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Benign traffic only; thresholds and config hashed before any test capture was scored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Test set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28 captures: 1.5 h normal + attack, 0.83 h benign look-alikes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Attack episodes detected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16/16  (C2 4/4, Recon 4/4, DDoS 2/2, Exfil 4/4, never-seen 2/2)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Median time to detect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19 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Known incidents named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8/14: C2 4/4, DDoS 2/2, Exfil 2/4, Recon 0/4; the other 6 left UNKNOWN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Never-seen incidents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5/5 left UNKNOWN; 0 attack types confused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False alerts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9.3/h on normal traffic; 42.0/h on benign look-alikes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Throughput / memory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22,011 packets/s, 162 Mbps, one core, 549 MB; 5-min capture in 1.85 s (median)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315200" y="2057400"/>
            <a:ext cx="420624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52360" y="2130552"/>
            <a:ext cx="3931920" cy="1783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6324B"/>
                </a:solidFill>
                <a:latin typeface="Trebuchet MS"/>
              </a:rPr>
              <a:t>What the hash-linked ledger establishes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Any edit, deletion or reordering of a sealed incident record is detected (5/5 tamper tests)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With the head hash kept in the case file, re-sealing a forged chain is detected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C55A11"/>
                </a:solidFill>
                <a:latin typeface="Trebuchet MS"/>
              </a:rPr>
              <a:t>What it does not establish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That the original PCAP is authentic or complete, or that a finding is correct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No distributed consensus yet: one hash chain; PBFT replication is planned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041648"/>
            <a:ext cx="4206240" cy="169164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52360" y="4114800"/>
            <a:ext cx="3931920" cy="1600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B3261E"/>
                </a:solidFill>
                <a:latin typeface="Trebuchet MS"/>
              </a:rPr>
              <a:t>Known limitations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Synthetic traffic only; CIC-IDS2017 and CTU-13 runs not yet done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False alerts above the &lt; 1/h target, highest on periodic benign services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Reconnaissance detected but never named; slowest exfiltration rate tested missed (0/2)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334455"/>
                </a:solidFill>
                <a:latin typeface="Calibri"/>
              </a:rPr>
              <a:t>▪ One capture, one data source; no image, audio or document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33872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5A7183"/>
                </a:solidFill>
                <a:latin typeface="Calibri"/>
              </a:rPr>
              <a:t>Sources: results/ablation.json, classification.json, robustness.json, benchmark.json, FREEZE.txt in the project repository.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gdtuw-logo.473df1c6cbcd03a6bf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19456"/>
            <a:ext cx="896112" cy="896112"/>
          </a:xfrm>
          <a:prstGeom prst="rect">
            <a:avLst/>
          </a:prstGeom>
        </p:spPr>
      </p:pic>
      <p:pic>
        <p:nvPicPr>
          <p:cNvPr id="4" name="Picture 3" descr="ise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182880"/>
            <a:ext cx="932688" cy="93268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519" y="365760"/>
            <a:ext cx="566928" cy="292608"/>
          </a:xfrm>
          <a:prstGeom prst="roundRect">
            <a:avLst>
              <a:gd name="adj" fmla="val 50000"/>
            </a:avLst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rebuchet MS"/>
              </a:rPr>
              <a:t>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274320"/>
            <a:ext cx="8138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324B"/>
                </a:solidFill>
                <a:latin typeface="Trebuchet MS"/>
              </a:rPr>
              <a:t>REPRODUCIBLE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6896" y="905256"/>
            <a:ext cx="1371600" cy="50800"/>
          </a:xfrm>
          <a:prstGeom prst="rect">
            <a:avLst/>
          </a:prstGeom>
          <a:solidFill>
            <a:srgbClr val="1E6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" y="1481328"/>
            <a:ext cx="11283696" cy="4773168"/>
          </a:xfrm>
          <a:prstGeom prst="roundRect">
            <a:avLst>
              <a:gd name="adj" fmla="val 4000"/>
            </a:avLst>
          </a:prstGeom>
          <a:solidFill>
            <a:srgbClr val="FFFFFF">
              <a:alpha val="34000"/>
            </a:srgbClr>
          </a:solidFill>
          <a:ln w="15875">
            <a:solidFill>
              <a:srgbClr val="E1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419088"/>
            <a:ext cx="31089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Team:  EigenThinkers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56848" y="6419088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5D4E2"/>
                </a:solidFill>
                <a:latin typeface="Trebuchet MS"/>
              </a:rPr>
              <a:t>A5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700784"/>
            <a:ext cx="106984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E6F9F"/>
                </a:solidFill>
                <a:latin typeface="Trebuchet MS"/>
              </a:rPr>
              <a:t>APPENDIX  -  what an evaluator runs, and what they should see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263156"/>
              </p:ext>
            </p:extLst>
          </p:nvPr>
        </p:nvGraphicFramePr>
        <p:xfrm>
          <a:off x="731520" y="2057400"/>
          <a:ext cx="6995160" cy="3364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Expected output / what to observe</a:t>
                      </a:r>
                    </a:p>
                  </a:txBody>
                  <a:tcPr marL="64008" marR="64008" marT="27432" marB="27432" anchor="ctr">
                    <a:solidFill>
                      <a:srgbClr val="1632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python scripts/run_demo.py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Five lines: C2</a:t>
                      </a:r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-&gt; </a:t>
                      </a:r>
                      <a:r>
                        <a:rPr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C2, RECON</a:t>
                      </a:r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-&gt; </a:t>
                      </a:r>
                      <a:r>
                        <a:rPr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UNKNOWN, DDO</a:t>
                      </a:r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S -&gt; </a:t>
                      </a:r>
                      <a:r>
                        <a:rPr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DDOS, EXFIL</a:t>
                      </a:r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-&gt; </a:t>
                      </a:r>
                      <a:r>
                        <a:rPr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EXFIL, UNKNOWN</a:t>
                      </a:r>
                      <a:r>
                        <a:rPr lang="en-US"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-&gt;</a:t>
                      </a:r>
                      <a:r>
                        <a:rPr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UNKNOWN, each incident with written reasons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python scripts/build_dashboard.py, open results/dashboard.html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Overview; incident 'why' panel; temporal view with the attack window; recon graph (21 peers, 15 new links); ledger INTACT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python video/ledger_check.py --tamper-test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6 records INTACT; edits, deletion and swap each break the chain: 5/5 detected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python scripts/run_ablation.py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Full system 16/16 attack episodes; without the graph engine 4/16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python scripts/benchmark.py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About 22,000 packets/s on one CPU core (results/benchmark.json)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6324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334455"/>
                          </a:solidFill>
                          <a:latin typeface="Calibri"/>
                        </a:rPr>
                        <a:t>python -m pytest tests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dirty="0">
                          <a:solidFill>
                            <a:srgbClr val="334455"/>
                          </a:solidFill>
                          <a:latin typeface="Calibri"/>
                        </a:rPr>
                        <a:t>38 tests pass</a:t>
                      </a:r>
                    </a:p>
                  </a:txBody>
                  <a:tcPr marL="64008" marR="64008" marT="27432" marB="27432" anchor="ctr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" y="5715000"/>
            <a:ext cx="6995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1">
                <a:solidFill>
                  <a:srgbClr val="5A7183"/>
                </a:solidFill>
                <a:latin typeface="Calibri"/>
              </a:rPr>
              <a:t>Steps 1–3 are shown in the 3-minute demo video submitted with this deck. Steps 1, 2, 4–6 need the full engine source in the repository.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057400"/>
            <a:ext cx="3520440" cy="3474720"/>
          </a:xfrm>
          <a:prstGeom prst="roundRect">
            <a:avLst>
              <a:gd name="adj" fmla="val 8000"/>
            </a:avLst>
          </a:prstGeom>
          <a:solidFill>
            <a:srgbClr val="EEF4F9"/>
          </a:solidFill>
          <a:ln w="9525">
            <a:solidFill>
              <a:srgbClr val="D3D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2130552"/>
            <a:ext cx="3246120" cy="3886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6324B"/>
                </a:solidFill>
                <a:latin typeface="Trebuchet MS"/>
              </a:rPr>
              <a:t>Multimedia / fraud: honest status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B3261E"/>
                </a:solidFill>
                <a:latin typeface="Calibri"/>
              </a:rPr>
              <a:t>Not supported today. </a:t>
            </a:r>
            <a:r>
              <a:rPr sz="1150" b="0" i="0">
                <a:solidFill>
                  <a:srgbClr val="334455"/>
                </a:solidFill>
                <a:latin typeface="Calibri"/>
              </a:rPr>
              <a:t>UniAethel analyses flow metadata; it does not process images, audio, video or documents.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E6F9F"/>
                </a:solidFill>
                <a:latin typeface="Trebuchet MS"/>
              </a:rPr>
              <a:t>Smallest credible extension (future work)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334455"/>
                </a:solidFill>
                <a:latin typeface="Calibri"/>
              </a:rPr>
              <a:t>▪ Recover files sent over cleartext protocols in the PCAP; record hash, true type vs extension, entropy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334455"/>
                </a:solidFill>
                <a:latin typeface="Calibri"/>
              </a:rPr>
              <a:t>▪ Metadata consistency and error-level checks on recovered images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334455"/>
                </a:solidFill>
                <a:latin typeface="Calibri"/>
              </a:rPr>
              <a:t>▪ Look-alike domain scoring on observed DNS names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334455"/>
                </a:solidFill>
                <a:latin typeface="Calibri"/>
              </a:rPr>
              <a:t>▪ Every result sealed in the same ledger</a:t>
            </a:r>
          </a:p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A7183"/>
                </a:solidFill>
                <a:latin typeface="Calibri"/>
              </a:rPr>
              <a:t>Needs a labelled set of genuine and altered files to validate.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1839</Words>
  <Application>Microsoft Office PowerPoint</Application>
  <PresentationFormat>Widescreen</PresentationFormat>
  <Paragraphs>212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 S</cp:lastModifiedBy>
  <cp:revision>14</cp:revision>
  <dcterms:created xsi:type="dcterms:W3CDTF">2013-01-27T09:14:16Z</dcterms:created>
  <dcterms:modified xsi:type="dcterms:W3CDTF">2026-10-19T16:30:06Z</dcterms:modified>
  <cp:category/>
</cp:coreProperties>
</file>